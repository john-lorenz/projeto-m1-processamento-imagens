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do Vale do Itajaí  •  Ciência da Computação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M1 — Operações Pontuais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Filtragem Espacial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91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 de radiografias musculoesqueléticas — conjunto MURA, categoria XR_FOREARM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846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Arthur dos Santos Lorenzoni e Lucas Francelino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Viel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Imagens  •  22/09/2026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31520"/>
            <a:ext cx="1463040" cy="54864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11480" y="960120"/>
            <a:ext cx="11338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efeito de operações pontuais e de filtros espaciais sobre radiografias do MURA, identificando a configuração com melhor equilíbrio entre contraste, redução de ruído e preservação de estruturas.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21208" y="196596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Ruído controlado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21208" y="251460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Gaussiano, σ = 15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semente 42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182880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47288" y="196596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Operação pontual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251460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Equalização (A)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gama (B)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182880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73368" y="196596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Suavização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73368" y="251460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3×3 (A)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Gaussiano 5×5 (B)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89720" y="182880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99448" y="196596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Aguçamento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299448" y="251460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High-boost (A)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Laplaciano somado (B)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4069080"/>
            <a:ext cx="11338560" cy="2240280"/>
          </a:xfrm>
          <a:prstGeom prst="roundRect">
            <a:avLst>
              <a:gd name="adj" fmla="val 3265"/>
            </a:avLst>
          </a:prstGeom>
          <a:solidFill>
            <a:srgbClr val="F4F6F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206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617720"/>
            <a:ext cx="10881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radiografias da categoria XR_FOREARM, com características de qualidade distintas.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configurações do pipeline, com alteração de técnica e de ordem.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Aguçamento combinado à imagem original, sem resultado restrito a bordas.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própria das operações pontuais, dos filtros e das métricas.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Imagens  •  UNIVALI  •  Projeto M1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0" y="66568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— XR_FOREARM (MURA v1.1)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31520"/>
            <a:ext cx="1463040" cy="54864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11480" y="91440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região anatômica. Pacientes distintos, de modo a obter variação de contraste, definição e artefatos.</a:t>
            </a:r>
            <a:endParaRPr lang="en-US" sz="1400" dirty="0"/>
          </a:p>
        </p:txBody>
      </p:sp>
      <p:pic>
        <p:nvPicPr>
          <p:cNvPr id="7" name="Image 0" descr="C:\Users\joaoa\OneDrive\Área de Trabalho\Trabalho M1.2\imagens\antebraco_artefa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3657600" cy="3200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11480" y="4709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5029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patient11328  •  study1_positive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Sobreposição, lençol e marcador</a:t>
            </a:r>
            <a:endParaRPr lang="en-US" sz="1300" dirty="0"/>
          </a:p>
        </p:txBody>
      </p:sp>
      <p:pic>
        <p:nvPicPr>
          <p:cNvPr id="10" name="Image 1" descr="C:\Users\joaoa\OneDrive\Área de Trabalho\Trabalho M1.2\imagens\antebraco_bem_defini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71600"/>
            <a:ext cx="3657600" cy="32004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97680" y="4709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 definido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297680" y="5029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patient11362  •  study1_negative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AP, estruturas nítidas</a:t>
            </a:r>
            <a:endParaRPr lang="en-US" sz="1300" dirty="0"/>
          </a:p>
        </p:txBody>
      </p:sp>
      <p:pic>
        <p:nvPicPr>
          <p:cNvPr id="13" name="Image 2" descr="C:\Users\joaoa\OneDrive\Área de Trabalho\Trabalho M1.2\imagens\antebraco_subexpost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371600"/>
            <a:ext cx="3657600" cy="32004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83880" y="4709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Subexposto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8183880" y="5029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patient11355  •  study1_positive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lateral, baixo contraste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Imagens  •  UNIVALI  •  Projeto M1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11338560" y="66568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 do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31520"/>
            <a:ext cx="1463040" cy="54864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05840"/>
            <a:ext cx="5532120" cy="4297680"/>
          </a:xfrm>
          <a:prstGeom prst="roundRect">
            <a:avLst>
              <a:gd name="adj" fmla="val 1702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143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Equalização de histograma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da mediana 3×3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High-boost (k = 1,2)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Ordem: pontual → suavização → aguçamento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4348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Justificativa: ampliar o contraste antes da remoção de ruído.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005840"/>
            <a:ext cx="5532120" cy="4297680"/>
          </a:xfrm>
          <a:prstGeom prst="roundRect">
            <a:avLst>
              <a:gd name="adj" fmla="val 1702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143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6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B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169164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gaussiano 5×5 (σ = 1)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gama (γ = 0,7)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Laplaciano somado (peso 0,8)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Ordem: suavização → pontual → aguçamento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3434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Justificativa: γ &lt; 1 amplia tons escuros; a suavização prévia reduz a amplificação do ruído de fundo.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" y="55321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Ruído comum às duas configurações: gaussiano aditivo, média 0, σ = 15, semente 42.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Imagens  •  UNIVALI  •  Projeto M1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6568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31520"/>
            <a:ext cx="1463040" cy="54864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11480" y="96012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pontuais, convolução, filtros e métricas implementados sem funções prontas de filtragem. NumPy é utilizado como estrutura de array; Pillow e Matplotlib, apenas para entrada, saída e figuras.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91640"/>
            <a:ext cx="3703320" cy="201168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76072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Equalização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233172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 e CDF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(cdf − cdfmin) / (N − cdfmin) · 255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703320" cy="201168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62272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gama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62272" y="233172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c · r^γ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0,7 amplia tons escuros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83880" y="1691640"/>
            <a:ext cx="3703320" cy="201168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48472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Convolução 2D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48472" y="233172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por replicação de borda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rotacionado 180°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3886200"/>
            <a:ext cx="3703320" cy="201168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76072" y="4069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" y="452628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Ordenação da vizinhança k×k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do valor central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97680" y="3886200"/>
            <a:ext cx="3703320" cy="201168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462272" y="4069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High-boost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462272" y="452628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f + k (f − fsuave)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1,2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83880" y="3886200"/>
            <a:ext cx="3703320" cy="201168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48472" y="4069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Laplaciano somado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348472" y="452628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f + peso · ∇²f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= 0,8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Imagens  •  UNIVALI  •  Projeto M1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0" y="66568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31520"/>
            <a:ext cx="1463040" cy="54864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5532120" cy="3108960"/>
          </a:xfrm>
          <a:prstGeom prst="roundRect">
            <a:avLst>
              <a:gd name="adj" fmla="val 2353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234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log10(255² / MSE)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Fidelidade pixel a pixel em relação à imagem original. Valores mais altos indicam menor erro quadrático.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051560"/>
            <a:ext cx="5532120" cy="3108960"/>
          </a:xfrm>
          <a:prstGeom prst="roundRect">
            <a:avLst>
              <a:gd name="adj" fmla="val 2353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234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73736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similaridade estrutural (luminância, contraste e estrutura locais).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 o PSNR na avaliação de contornos ósseos.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4389120"/>
            <a:ext cx="11338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contraste RMS (desvio padrão) foi registrado como apoio. A equalização eleva esse valor, mas também o ruído de fundo. O PSNR penaliza alterações intencionais de histograma; por isso a análise combina PSNR, SSIM e inspeção visual.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Imagens  •  UNIVALI  •  Projeto M1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0" y="66568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31520"/>
            <a:ext cx="1463040" cy="54864"/>
          </a:xfrm>
          <a:prstGeom prst="rect">
            <a:avLst/>
          </a:prstGeom>
          <a:solidFill>
            <a:srgbClr val="C45C26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38560" cy="4206240"/>
        </p:xfrm>
        <a:graphic>
          <a:graphicData uri="http://schemas.openxmlformats.org/drawingml/2006/table">
            <a:tbl>
              <a:tblPr/>
              <a:tblGrid>
                <a:gridCol w="2560320"/>
                <a:gridCol w="2194560"/>
                <a:gridCol w="2194560"/>
                <a:gridCol w="2194560"/>
                <a:gridCol w="21945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 (dB)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Contraste RMS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Ruidosa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0,3997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0,1375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definido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Ruidosa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0,3223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definido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definido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subexposto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Ruidosa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0,2868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subexposto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subexposto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11480" y="539496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Configuração B obtém PSNR e SSIM superiores nas três imagens. A Configuração A apresenta maior contraste RMS.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Imagens  •  UNIVALI  •  Projeto M1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338560" y="66568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visual — antebraço bem definido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31520"/>
            <a:ext cx="1463040" cy="54864"/>
          </a:xfrm>
          <a:prstGeom prst="rect">
            <a:avLst/>
          </a:prstGeom>
          <a:solidFill>
            <a:srgbClr val="C45C26"/>
          </a:solidFill>
          <a:ln/>
        </p:spPr>
      </p:sp>
      <p:pic>
        <p:nvPicPr>
          <p:cNvPr id="6" name="Image 0" descr="C:\Users\joaoa\OneDrive\Área de Trabalho\Trabalho M1.2\resultados\antebraco_bem_definido\figura_pipeline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11612880" cy="2468880"/>
          </a:xfrm>
          <a:prstGeom prst="rect">
            <a:avLst/>
          </a:prstGeom>
        </p:spPr>
      </p:pic>
      <p:pic>
        <p:nvPicPr>
          <p:cNvPr id="7" name="Image 1" descr="C:\Users\joaoa\OneDrive\Área de Trabalho\Trabalho M1.2\resultados\antebraco_bem_definido\figura_pipeline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520440"/>
            <a:ext cx="11612880" cy="2468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Imagens  •  UNIVALI  •  Projeto M1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1338560" y="66568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visual — antebraço subexposto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31520"/>
            <a:ext cx="1463040" cy="54864"/>
          </a:xfrm>
          <a:prstGeom prst="rect">
            <a:avLst/>
          </a:prstGeom>
          <a:solidFill>
            <a:srgbClr val="C45C26"/>
          </a:solidFill>
          <a:ln/>
        </p:spPr>
      </p:sp>
      <p:pic>
        <p:nvPicPr>
          <p:cNvPr id="6" name="Image 0" descr="C:\Users\joaoa\OneDrive\Área de Trabalho\Trabalho M1.2\resultados\antebraco_subexposto\figura_pipeline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11612880" cy="2468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11480" y="34747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equalização eleva o contraste, mas redistribui o ruído de fundo (SSIM = 0,11). A mediana posterior não recupera a distribuição original de intensidades.</a:t>
            </a:r>
            <a:endParaRPr lang="en-US" sz="1400" dirty="0"/>
          </a:p>
        </p:txBody>
      </p:sp>
      <p:pic>
        <p:nvPicPr>
          <p:cNvPr id="8" name="Image 1" descr="C:\Users\joaoa\OneDrive\Área de Trabalho\Trabalho M1.2\resultados\antebraco_subexposto\figura_pipeline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023360"/>
            <a:ext cx="11612880" cy="23317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Imagens  •  UNIVALI  •  Projeto M1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1338560" y="66568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31520"/>
            <a:ext cx="1463040" cy="54864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05840"/>
            <a:ext cx="11338560" cy="1115568"/>
          </a:xfrm>
          <a:prstGeom prst="roundRect">
            <a:avLst>
              <a:gd name="adj" fmla="val 6557"/>
            </a:avLst>
          </a:prstGeom>
          <a:solidFill>
            <a:srgbClr val="F4F6F8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005840"/>
            <a:ext cx="109728" cy="1115568"/>
          </a:xfrm>
          <a:prstGeom prst="rect">
            <a:avLst/>
          </a:prstGeom>
          <a:solidFill>
            <a:srgbClr val="2A6F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097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4447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Configuração B é a única em que o SSIM supera o da imagem ruidosa (0,46 &gt; 0,40). A equalização degrada o fundo e os artefatos de aquisição.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2240280"/>
            <a:ext cx="11338560" cy="1115568"/>
          </a:xfrm>
          <a:prstGeom prst="roundRect">
            <a:avLst>
              <a:gd name="adj" fmla="val 6557"/>
            </a:avLst>
          </a:prstGeom>
          <a:solidFill>
            <a:srgbClr val="F4F6F8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2240280"/>
            <a:ext cx="109728" cy="1115568"/>
          </a:xfrm>
          <a:prstGeom prst="rect">
            <a:avLst/>
          </a:prstGeom>
          <a:solidFill>
            <a:srgbClr val="2A6F7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331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 definido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67919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imagem já apresentava contraste adequado. A Configuração B preserva estrutura próxima da ruidosa (SSIM 0,31 frente a 0,32).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3474720"/>
            <a:ext cx="11338560" cy="1115568"/>
          </a:xfrm>
          <a:prstGeom prst="roundRect">
            <a:avLst>
              <a:gd name="adj" fmla="val 6557"/>
            </a:avLst>
          </a:prstGeom>
          <a:solidFill>
            <a:srgbClr val="F4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3474720"/>
            <a:ext cx="109728" cy="1115568"/>
          </a:xfrm>
          <a:prstGeom prst="rect">
            <a:avLst/>
          </a:prstGeom>
          <a:solidFill>
            <a:srgbClr val="2A6F7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5661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Subexposto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9136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ganho estrutural: SSIM de 0,29 (ruidosa) para 0,46. A correção gama clareia a anatomia sem redistribuir o ruído de fundo.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4709160"/>
            <a:ext cx="11338560" cy="1115568"/>
          </a:xfrm>
          <a:prstGeom prst="roundRect">
            <a:avLst>
              <a:gd name="adj" fmla="val 6557"/>
            </a:avLst>
          </a:prstGeom>
          <a:solidFill>
            <a:srgbClr val="F4F6F8"/>
          </a:solidFill>
          <a:ln/>
        </p:spPr>
      </p:sp>
      <p:sp>
        <p:nvSpPr>
          <p:cNvPr id="19" name="Shape 17"/>
          <p:cNvSpPr/>
          <p:nvPr/>
        </p:nvSpPr>
        <p:spPr>
          <a:xfrm>
            <a:off x="411480" y="4709160"/>
            <a:ext cx="109728" cy="1115568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8006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observadas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14807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Equalização com fundo predominante em zero; mediana 3×3 insuficiente após a redistribuição de intensidades; high-boost realça ruído residual.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Imagens  •  UNIVALI  •  Projeto M1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0" y="66568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31520"/>
            <a:ext cx="1463040" cy="54864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Configuração B apresentou o melhor compromisso nas três radiografias.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691640"/>
            <a:ext cx="11338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Suavização antes da correção gama, seguida de laplaciano somado, reduz ruído e preserva estruturas.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equalização maximiza o contraste RMS, porém amplifica o ruído em imagens cujo histograma se concentra no zero.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efeito de cada técnica depende da imagem: a vista lateral subexposta beneficiou-se da gama; a projeção AP já definida não exigia equalização.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e SSIM devem ser interpretados em conjunto com a análise visual, pois alterações intencionais de intensidade reduzem o PSNR.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Imagens  •  UNIVALI  •  Projeto M1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6568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M1 — Operações Pontuais e Filtragem Espacial</dc:title>
  <dc:subject>PptxGenJS Presentation</dc:subject>
  <dc:creator>João Arthur dos Santos Lorenzoni e Lucas Francelino</dc:creator>
  <cp:lastModifiedBy>João Arthur dos Santos Lorenzoni e Lucas Francelino</cp:lastModifiedBy>
  <cp:revision>1</cp:revision>
  <dcterms:created xsi:type="dcterms:W3CDTF">2026-09-22T05:01:10Z</dcterms:created>
  <dcterms:modified xsi:type="dcterms:W3CDTF">2026-09-22T05:01:10Z</dcterms:modified>
</cp:coreProperties>
</file>